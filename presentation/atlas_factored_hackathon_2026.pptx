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55p7p6snz2nmfwiust5i5k7kmi0mjbqc.lambda-url.us-east-2.on.aws/" TargetMode="External"/><Relationship Id="rId3" Type="http://schemas.openxmlformats.org/officeDocument/2006/relationships/hyperlink" Target="https://github.com/lucasswolff/factored-hackathon-2026-atl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9640" y="-502920"/>
            <a:ext cx="4663440" cy="4663440"/>
          </a:xfrm>
          <a:prstGeom prst="roundRect">
            <a:avLst>
              <a:gd name="adj" fmla="val 12000"/>
            </a:avLst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228600"/>
            <a:ext cx="3200400" cy="3200400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 w="12700">
            <a:solidFill>
              <a:srgbClr val="D5F3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118872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0" b="1">
                <a:solidFill>
                  <a:srgbClr val="D5F377"/>
                </a:solidFill>
                <a:latin typeface="Arial"/>
              </a:rPr>
              <a:t>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621792"/>
            <a:ext cx="1975104" cy="27432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5" y="681228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12B38"/>
                </a:solidFill>
                <a:latin typeface="Arial"/>
              </a:rPr>
              <a:t>AI-FIRST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0" b="1">
                <a:solidFill>
                  <a:srgbClr val="FFFFFF"/>
                </a:solidFill>
                <a:latin typeface="Arial"/>
              </a:rPr>
              <a:t>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304288"/>
            <a:ext cx="69037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A clearer path from card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to a verified next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813048"/>
            <a:ext cx="6492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Credit-card product information, simulated eligibility,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and human-review handoff in Spanish and Portuguese.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5001768"/>
            <a:ext cx="6318504" cy="9144"/>
          </a:xfrm>
          <a:prstGeom prst="rect">
            <a:avLst/>
          </a:prstGeom>
          <a:solidFill>
            <a:srgbClr val="63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5266944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D5F377"/>
                </a:solidFill>
                <a:latin typeface="Arial"/>
              </a:rPr>
              <a:t>FACTORED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650992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Atlas  ·  Lucas Wolff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6501384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AFC4C1"/>
                </a:solidFill>
                <a:latin typeface="Arial"/>
              </a:rPr>
              <a:t>Working prototype  ·  Team-created offers and fictional public fixtures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02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01  /  THE CUSTOMER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Help a prospective card customer decide with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customer can ask natural questions, compare cards, request a simulated precheck, or ask for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38528"/>
            <a:ext cx="11173968" cy="79552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057400"/>
            <a:ext cx="10643616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Goal: answer prospective card questions with grounded facts,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then verify every action the agent claims it took.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971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76F70"/>
                </a:solidFill>
                <a:latin typeface="Arial"/>
              </a:rPr>
              <a:t>SUPPLIED DATA  /  WHY WE USE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333756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52044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Campaigns + sends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84048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MARKETING_CAMPAIGNS + CAMPAIGN_SENDS: 52 generic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credit campaigns; interest and entry context, not sales.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461772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80060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Customers +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512064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CUSTOMERS + PRODUCTS: local scenario profiles, country,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score, income estimate, and existing holdings.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3328" y="333756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08776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352044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Service agents + transcripts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84048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SERVICE_AGENTS: language-based mock routing.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CALL_TRANSCRIPTS: Spanish tone, not facts.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461772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8776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8776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80060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Team-created demo assets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512064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Four offer terms, synthetic policy, fictional public fixtures,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new chat events, and mock application/handoff records.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" y="6044184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17780"/>
                </a:solidFill>
                <a:latin typeface="Arial"/>
              </a:rPr>
              <a:t>Evidence boundary: 1.75M sends and 97.8K clicks cover all supplied campaigns; neither proves card acquisition or chatbot demand.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03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02  /  WORKING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A real conversation in Spanish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Captured from the deployed judge app on 3 October 2026 · Rewards campaign · México · fictional fixture P02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47088"/>
            <a:ext cx="8778240" cy="43159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nish_conversa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929384"/>
            <a:ext cx="8613648" cy="415137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491472" y="1847088"/>
            <a:ext cx="2194560" cy="43159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9216" y="2084831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What this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shows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9216" y="2852928"/>
            <a:ext cx="1719071" cy="9144"/>
          </a:xfrm>
          <a:prstGeom prst="rect">
            <a:avLst/>
          </a:prstGeom>
          <a:solidFill>
            <a:srgbClr val="59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9216" y="3108960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Maintains the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selected 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858768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Answers 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follow-up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9216" y="4608576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Displays source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fact IDs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9216" y="5650992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C6D8D5"/>
                </a:solidFill>
                <a:latin typeface="Arial"/>
              </a:rPr>
              <a:t>Live output; not a 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04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03  /  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Claude routes and answers; the service controls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bounded intent choice comes before service-owned policy, consent, and durable outcomes.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65960"/>
            <a:ext cx="2139696" cy="1115568"/>
          </a:xfrm>
          <a:prstGeom prst="roundRect">
            <a:avLst>
              <a:gd name="adj" fmla="val 12000"/>
            </a:avLst>
          </a:prstGeom>
          <a:solidFill>
            <a:srgbClr val="E8F2F6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157984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487168"/>
            <a:ext cx="17739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Campaign / direct entry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Fictional fixture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3512" y="1965960"/>
            <a:ext cx="2304288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157984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Lambda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487168"/>
            <a:ext cx="19385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HTTPS API + 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Protected review route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9552" y="1965960"/>
            <a:ext cx="2798064" cy="111556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157984"/>
            <a:ext cx="2432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Conversation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48716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Haiku: bounded intent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Service validates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77656" y="1965960"/>
            <a:ext cx="3008376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2157984"/>
            <a:ext cx="2633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DynamoDB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87168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Sessions + quota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Actions + roster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Product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Sonnet + versioned public facts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Citations checked; unknown → offer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96512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8536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Deterministic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Fixture-bound suggestions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Consented synthetic precheck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The model cannot approve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538728"/>
            <a:ext cx="4005072" cy="1472184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72984" y="3749039"/>
            <a:ext cx="36210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Verified actions + reviewer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72984" y="4096512"/>
            <a:ext cx="362102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Confirmation → write once → read back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Application: PENDING_REVIEW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Full-thread handoff; bot pauses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" y="5376672"/>
            <a:ext cx="11173968" cy="722376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50408"/>
            <a:ext cx="107167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Boundaries: no private profile in model requests  ·  secrets in AWS SSM  ·  sanitized CloudWatch logs  ·  no bank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05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04  /  MEASURED BEHAVIOR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87 automated tests passed; 7/8 live flows met expectations*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Current 4 October build · agent-run production smoke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74519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5740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Product facts +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77439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Benefits and monthly fee came together with citations.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'This card' kept Horizon across turns. A comparison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against Summit returned lower-cost options.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74519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5740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Intent + consent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77439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 new application request reached card-specific consent.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An unnamed other card prompted a card choice.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Precheck decline led to a separate application choice.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675887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858768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Profile + service boundaries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4178807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Student suggestion named the selected demo profile and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its unverified enrollment. Cancellation got a support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path; a second application got the one-per-chat rule.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675887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858768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Dated evidence + capacity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4178807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Current build: 87 local tests; 7/8* live smoke flows.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Earlier rehearsal: 12 entry paths, 3 application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read-backs, 24 HTTP requests from six visitors.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5513832"/>
            <a:ext cx="11173968" cy="74066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605272"/>
            <a:ext cx="10744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12B38"/>
                </a:solidFill>
                <a:latin typeface="Arial"/>
              </a:rPr>
              <a:t>* After Rewards and Summit, 'a cheaper one' (PT: 'um mais barato') did not trigger a question about the reference card.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815584"/>
            <a:ext cx="10744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112B38"/>
                </a:solidFill>
                <a:latin typeface="Arial"/>
              </a:rPr>
              <a:t>It listed alternatives; a separate 'cheaper than Rewards' answer even included the more expensive Summit.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6053328"/>
            <a:ext cx="10744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76F70"/>
                </a:solidFill>
                <a:latin typeface="Arial"/>
              </a:rPr>
              <a:t>Separate, noncumulative checks  ·  400 model attempts/day cap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06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05  /  PATH TO A REAL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What changes before a customer can rely on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The prototype proves a workflow; a banking deployment needs approved data, live operations, and independent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65376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48256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Approved products +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68296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Replace demo offers and thresholds with governed,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versioned bank terms and credit policy; legal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65376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48256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Identity + data permissions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68296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Real customer authentication, consent,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account data, ownership checks, and retention controls.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383280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56616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Live human 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3886200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Agent availability, queue ownership, employee inbox,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reply in the same chat, SLA, and escalation outcomes.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383280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56616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Quality +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3886200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Independent bilingual held-out evaluation, security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testing, capacity/cost budgets, monitoring, and support.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4983480"/>
            <a:ext cx="11173968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30368"/>
            <a:ext cx="106253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Now: a working, public judge prototype with verified simulated actions.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660136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2"/>
              </a:rPr>
              <a:t>Open the live demo  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5660136"/>
            <a:ext cx="5230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3"/>
              </a:rPr>
              <a:t>Open the public repository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