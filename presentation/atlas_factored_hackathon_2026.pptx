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55p7p6snz2nmfwiust5i5k7kmi0mjbqc.lambda-url.us-east-2.on.aws/" TargetMode="External"/><Relationship Id="rId3" Type="http://schemas.openxmlformats.org/officeDocument/2006/relationships/hyperlink" Target="https://github.com/lucasswolff/factored-hackathon-2026-atl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549640" y="-502920"/>
            <a:ext cx="4663440" cy="4663440"/>
          </a:xfrm>
          <a:prstGeom prst="roundRect">
            <a:avLst>
              <a:gd name="adj" fmla="val 12000"/>
            </a:avLst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81160" y="228600"/>
            <a:ext cx="3200400" cy="3200400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 w="12700">
            <a:solidFill>
              <a:srgbClr val="D5F3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1188720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900" b="1">
                <a:solidFill>
                  <a:srgbClr val="D5F377"/>
                </a:solidFill>
                <a:latin typeface="Arial"/>
              </a:rPr>
              <a:t>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621792"/>
            <a:ext cx="1975104" cy="27432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5" y="681228"/>
            <a:ext cx="181051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12B38"/>
                </a:solidFill>
                <a:latin typeface="Arial"/>
              </a:rPr>
              <a:t>AI-FIRST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0" b="1">
                <a:solidFill>
                  <a:srgbClr val="FFFFFF"/>
                </a:solidFill>
                <a:latin typeface="Arial"/>
              </a:rPr>
              <a:t>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304288"/>
            <a:ext cx="69037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A clearer path from card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to a verified next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813048"/>
            <a:ext cx="6492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Credit-card product information, simulated eligibility,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C6D8D5"/>
                </a:solidFill>
                <a:latin typeface="Arial"/>
              </a:rPr>
              <a:t>and human-review handoff in Spanish and Portuguese.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5001768"/>
            <a:ext cx="6318504" cy="9144"/>
          </a:xfrm>
          <a:prstGeom prst="rect">
            <a:avLst/>
          </a:prstGeom>
          <a:solidFill>
            <a:srgbClr val="63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526694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D5F377"/>
                </a:solidFill>
                <a:latin typeface="Arial"/>
              </a:rPr>
              <a:t>FACTORED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650992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Atlas  ·  Lucas Wolff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6501384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AFC4C1"/>
                </a:solidFill>
                <a:latin typeface="Arial"/>
              </a:rPr>
              <a:t>Working prototype  ·  Team-created offers and fictional public fixtures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02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01  /  THE CUSTOMER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Help a prospective card customer decide with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customer can ask natural questions, compare cards, request a simulated precheck, or ask for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38528"/>
            <a:ext cx="11173968" cy="79552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57400"/>
            <a:ext cx="10643616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Goal: answer prospective card questions with grounded facts,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then verify every action the agent claims it took.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2971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76F70"/>
                </a:solidFill>
                <a:latin typeface="Arial"/>
              </a:rPr>
              <a:t>SUPPLIED DATA  /  WHY WE USE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33756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52044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Campaigns + sends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84048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MARKETING_CAMPAIGNS + CAMPAIGN_SENDS: 52 generic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credit campaigns; interest and entry context, not sales.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4617720"/>
            <a:ext cx="5330952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4800600"/>
            <a:ext cx="45537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Customers +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5120640"/>
            <a:ext cx="45262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CUSTOMERS + PRODUCTS: local scenario profiles, country,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score, income estimate, and existing holdings.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53328" y="333756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08776" y="350215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8776" y="358902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52044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Service agents + transcripts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4048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SERVICE_AGENTS: language-based mock routing.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CALL_TRANSCRIPTS: Spanish tone, not 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617720"/>
            <a:ext cx="5632704" cy="116128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8776" y="47823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8776" y="48691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800600"/>
            <a:ext cx="48554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Team-created demo assets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5120640"/>
            <a:ext cx="482803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Four offer terms, synthetic policy, fictional public fixtures,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new chat events, and mock application/handoff records.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6044184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17780"/>
                </a:solidFill>
                <a:latin typeface="Arial"/>
              </a:rPr>
              <a:t>Evidence boundary: 1.75M sends and 97.8K clicks cover all supplied campaigns; neither proves card acquisition or chatbot demand.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03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02  /  WORKING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A real conversation in Spanish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Captured from the deployed judge app on 3 October 2026 · Rewards campaign · México · fictional fixture P02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47088"/>
            <a:ext cx="8778240" cy="43159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nish_conversa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29384"/>
            <a:ext cx="8613648" cy="415137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491472" y="1847088"/>
            <a:ext cx="2194560" cy="43159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084831"/>
            <a:ext cx="1737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What this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shows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2852928"/>
            <a:ext cx="1719071" cy="9144"/>
          </a:xfrm>
          <a:prstGeom prst="rect">
            <a:avLst/>
          </a:prstGeom>
          <a:solidFill>
            <a:srgbClr val="59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3108960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Maintains the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selected 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85876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Answers 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follow-up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9216" y="460857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Displays source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D5F377"/>
                </a:solidFill>
                <a:latin typeface="Arial"/>
              </a:rPr>
              <a:t>fact IDs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9216" y="5650992"/>
            <a:ext cx="17556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0">
                <a:solidFill>
                  <a:srgbClr val="C6D8D5"/>
                </a:solidFill>
                <a:latin typeface="Arial"/>
              </a:rPr>
              <a:t>Live output; not a 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04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03  /  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Claude routes and answers; the service controls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A bounded intent choice comes before service-owned policy, consent, and durable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965960"/>
            <a:ext cx="2139696" cy="1115568"/>
          </a:xfrm>
          <a:prstGeom prst="roundRect">
            <a:avLst>
              <a:gd name="adj" fmla="val 12000"/>
            </a:avLst>
          </a:prstGeom>
          <a:solidFill>
            <a:srgbClr val="E8F2F6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15798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487168"/>
            <a:ext cx="17739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Campaign / direct entry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Fictional fixture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965960"/>
            <a:ext cx="2304288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157984"/>
            <a:ext cx="19385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Lambda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487168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HTTPS API + 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Protected review route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1965960"/>
            <a:ext cx="2798064" cy="1115568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157984"/>
            <a:ext cx="2432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12B38"/>
                </a:solidFill>
                <a:latin typeface="Arial"/>
              </a:rPr>
              <a:t>Conversation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2432" y="248716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Haiku: bounded intent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Service validates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77656" y="1965960"/>
            <a:ext cx="3008376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2157984"/>
            <a:ext cx="26334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DynamoDB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87168"/>
            <a:ext cx="26060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Sessions + quota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C9D9D8"/>
                </a:solidFill>
                <a:latin typeface="Arial"/>
              </a:rPr>
              <a:t>Actions +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3336" y="231343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176F70"/>
                </a:solidFill>
                <a:latin typeface="Arial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Product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Sonnet + versioned public facts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Citations checked; unknown → offer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96512" y="3538728"/>
            <a:ext cx="3429000" cy="1472184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8536" y="3749039"/>
            <a:ext cx="3044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Deterministic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4096512"/>
            <a:ext cx="30449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Fixture-bound suggestions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Consented synthetic precheck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The model cannot approve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3538728"/>
            <a:ext cx="4005072" cy="1472184"/>
          </a:xfrm>
          <a:prstGeom prst="roundRect">
            <a:avLst>
              <a:gd name="adj" fmla="val 12000"/>
            </a:avLst>
          </a:prstGeom>
          <a:solidFill>
            <a:srgbClr val="FFF3E8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2984" y="3749039"/>
            <a:ext cx="362102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12B38"/>
                </a:solidFill>
                <a:latin typeface="Arial"/>
              </a:rPr>
              <a:t>Verified actions + reviewer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72984" y="4096512"/>
            <a:ext cx="362102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Confirmation → write once → read back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Application: PENDING_REVIEW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17780"/>
                </a:solidFill>
                <a:latin typeface="Arial"/>
              </a:rPr>
              <a:t>Full-thread handoff; bot pauses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5376672"/>
            <a:ext cx="11173968" cy="722376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50408"/>
            <a:ext cx="1071676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Boundaries: no private profile in model requests  ·  secrets in AWS SSM  ·  sanitized CloudWatch logs  ·  no bank write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05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04  /  MEASURED 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Live checks show progress and a remaining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4 October production smoke probes are separate from the earlier paired evaluation and judge rehearsal.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74519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5740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Product facts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77439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Benefits and monthly fee answered together with facts.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'This card' kept Horizon. A two-card cheaper question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failed to clarify its price reference.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74519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3911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25979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5740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Intent + consent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77439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Negation then application reached card-specific consent.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An unnamed other card triggered card choice. Declined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precheck never created an application by itself.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675887"/>
            <a:ext cx="5340096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858768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Profile + service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4178807"/>
            <a:ext cx="453542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Student suggestion named fixture and unverified status.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Existing-card cancellation was refused. A second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application was blocked before another precheck.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675887"/>
            <a:ext cx="564184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840479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927348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858768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Evidence + capacity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4178807"/>
            <a:ext cx="4837176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7/8 live smoke scenarios met expectation; 87 local tests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passed. Shared cap: 400 model attempts per UTC day.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No independent bilingual quality result yet.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5650992"/>
            <a:ext cx="11173968" cy="502920"/>
          </a:xfrm>
          <a:prstGeom prst="roundRect">
            <a:avLst>
              <a:gd name="adj" fmla="val 12000"/>
            </a:avLst>
          </a:prstGeom>
          <a:solidFill>
            <a:srgbClr val="E9F4EE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06440"/>
            <a:ext cx="10744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1">
                <a:solidFill>
                  <a:srgbClr val="176F70"/>
                </a:solidFill>
                <a:latin typeface="Arial"/>
              </a:rPr>
              <a:t>Separate earlier rehearsal: 12/12 entry paths, 3/3 stored applications, 24/24 requests from six visitors; no peak load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6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2468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12B38"/>
                </a:solidFill>
                <a:latin typeface="Arial"/>
              </a:rPr>
              <a:t>✳ 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26517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76F70"/>
                </a:solidFill>
                <a:latin typeface="Arial"/>
              </a:rPr>
              <a:t>FACTORED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6501384"/>
            <a:ext cx="11173967" cy="9144"/>
          </a:xfrm>
          <a:prstGeom prst="rect">
            <a:avLst/>
          </a:prstGeom>
          <a:solidFill>
            <a:srgbClr val="D7E3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74536"/>
            <a:ext cx="7315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80" b="0">
                <a:solidFill>
                  <a:srgbClr val="617780"/>
                </a:solidFill>
                <a:latin typeface="Arial"/>
              </a:rPr>
              <a:t>ATLAS  /  CREDIT-PRODUCT INFO &amp; ELIGIBILITY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65392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617780"/>
                </a:solidFill>
                <a:latin typeface="Arial"/>
              </a:rPr>
              <a:t>06 /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758952"/>
            <a:ext cx="8138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76F70"/>
                </a:solidFill>
                <a:latin typeface="Arial"/>
              </a:rPr>
              <a:t>05  /  PATH TO A REAL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969264"/>
            <a:ext cx="111099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12B38"/>
                </a:solidFill>
                <a:latin typeface="Arial"/>
              </a:rPr>
              <a:t>What changes before a customer can rely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444752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17780"/>
                </a:solidFill>
                <a:latin typeface="Arial"/>
              </a:rPr>
              <a:t>The prototype proves a workflow; a banking deployment needs approved data, live operations, and independent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1865376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048256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Approved products +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368296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Replace demo offers and thresholds with governed,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versioned bank terms and credit policy; legal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44184" y="1865376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2029968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116836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4264" y="204825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Identity + data permissions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4264" y="2368296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Real customer authentication, consent,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account data, ownership checks, and retention controls.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383280"/>
            <a:ext cx="5340096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562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Live human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" y="3886200"/>
            <a:ext cx="4535424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Agent availability, queue ownership, employee inbox,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reply in the same chat, SLA, and escalation outcomes.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44184" y="3383280"/>
            <a:ext cx="5641848" cy="1307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9632" y="3547872"/>
            <a:ext cx="365760" cy="365760"/>
          </a:xfrm>
          <a:prstGeom prst="roundRect">
            <a:avLst>
              <a:gd name="adj" fmla="val 12000"/>
            </a:avLst>
          </a:prstGeom>
          <a:solidFill>
            <a:srgbClr val="D5F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2" y="363474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12B38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3566160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12B38"/>
                </a:solidFill>
                <a:latin typeface="Arial"/>
              </a:rPr>
              <a:t>Quality +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3886200"/>
            <a:ext cx="4837176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Independent bilingual held-out evaluation, security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30" b="0">
                <a:solidFill>
                  <a:srgbClr val="617780"/>
                </a:solidFill>
                <a:latin typeface="Arial"/>
              </a:rPr>
              <a:t>testing, capacity/cost budgets, monitoring, and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" y="4983480"/>
            <a:ext cx="11173968" cy="1115568"/>
          </a:xfrm>
          <a:prstGeom prst="roundRect">
            <a:avLst>
              <a:gd name="adj" fmla="val 12000"/>
            </a:avLst>
          </a:prstGeom>
          <a:solidFill>
            <a:srgbClr val="112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30368"/>
            <a:ext cx="106253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Now: a working, public judge prototype with verified simulated actions.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660136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2"/>
              </a:rPr>
              <a:t>Open the live demo 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5660136"/>
            <a:ext cx="5230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D5F377"/>
                </a:solidFill>
                <a:latin typeface="Arial"/>
                <a:hlinkClick r:id="rId3"/>
              </a:rPr>
              <a:t>Open the public repository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