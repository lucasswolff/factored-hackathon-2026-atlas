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55p7p6snz2nmfwiust5i5k7kmi0mjbqc.lambda-url.us-east-2.on.aws/" TargetMode="External"/><Relationship Id="rId3" Type="http://schemas.openxmlformats.org/officeDocument/2006/relationships/hyperlink" Target="https://github.com/lucasswolff/factored-hackathon-2026-atl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9640" y="-502920"/>
            <a:ext cx="4663440" cy="4663440"/>
          </a:xfrm>
          <a:prstGeom prst="roundRect">
            <a:avLst>
              <a:gd name="adj" fmla="val 12000"/>
            </a:avLst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228600"/>
            <a:ext cx="3200400" cy="3200400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 w="12700">
            <a:solidFill>
              <a:srgbClr val="D5F3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118872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0" b="1">
                <a:solidFill>
                  <a:srgbClr val="D5F377"/>
                </a:solidFill>
                <a:latin typeface="Arial"/>
              </a:rPr>
              <a:t>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621792"/>
            <a:ext cx="1975104" cy="27432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5" y="681228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12B38"/>
                </a:solidFill>
                <a:latin typeface="Arial"/>
              </a:rPr>
              <a:t>AI-FIRST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0" b="1">
                <a:solidFill>
                  <a:srgbClr val="FFFFFF"/>
                </a:solidFill>
                <a:latin typeface="Arial"/>
              </a:rPr>
              <a:t>ATLAS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304288"/>
            <a:ext cx="69037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Understand a card. Find a fit.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Take a verified next step.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813048"/>
            <a:ext cx="6492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Bilingual card guidance, simulated eligibility,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and a path to human review in one conversation.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5001768"/>
            <a:ext cx="6318504" cy="9144"/>
          </a:xfrm>
          <a:prstGeom prst="rect">
            <a:avLst/>
          </a:prstGeom>
          <a:solidFill>
            <a:srgbClr val="63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5266944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D5F377"/>
                </a:solidFill>
                <a:latin typeface="Arial"/>
              </a:rPr>
              <a:t>FACTORED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650992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Atlas  ·  Lucas Wolff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6501384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AFC4C1"/>
                </a:solidFill>
                <a:latin typeface="Arial"/>
              </a:rPr>
              <a:t>Working prototype  ·  Team-created offers and fictional public fixtures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02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01  /  THE PRODUCT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From a card question to a customer-controlled next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Spanish and Portuguese chat helps a visitor understand the offers before choosing whether to act.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38528"/>
            <a:ext cx="11173968" cy="640080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21408"/>
            <a:ext cx="1064361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Clear terms now  ·  relevant choices next  ·  verified status for every mock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2907792"/>
            <a:ext cx="2029968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3063240"/>
            <a:ext cx="347472" cy="347472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154680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58444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77639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Fees and benefits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in natural language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98064" y="2907792"/>
            <a:ext cx="2029968" cy="1719072"/>
          </a:xfrm>
          <a:prstGeom prst="roundRect">
            <a:avLst>
              <a:gd name="adj" fmla="val 12000"/>
            </a:avLst>
          </a:prstGeom>
          <a:solidFill>
            <a:srgbClr val="E8F2F6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44368" y="3063240"/>
            <a:ext cx="347472" cy="347472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44368" y="3154680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358444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Compare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44368" y="3977639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See options and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their trade-offs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84064" y="2907792"/>
            <a:ext cx="2029968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230368" y="3063240"/>
            <a:ext cx="347472" cy="347472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30368" y="3154680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58444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Choose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3977639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Keep the right card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in context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70064" y="2907792"/>
            <a:ext cx="2029968" cy="1719072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16368" y="3063240"/>
            <a:ext cx="347472" cy="347472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16368" y="3154680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58444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3977639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Allow an optional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card-specific precheck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56064" y="2907792"/>
            <a:ext cx="2029968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802368" y="3063240"/>
            <a:ext cx="347472" cy="347472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02368" y="3154680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12B38"/>
                </a:solidFill>
                <a:latin typeface="Arial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8" y="358444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Next step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8" y="3977639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Confirm a mock request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or ask for review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2064" y="4965192"/>
            <a:ext cx="11173968" cy="55778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5129784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20" b="1">
                <a:solidFill>
                  <a:srgbClr val="176F70"/>
                </a:solidFill>
                <a:latin typeface="Arial"/>
              </a:rPr>
              <a:t>Four choices: Campus for students  ·  Horizon for daily use  ·  Rewards for travel  ·  Summit for premium travel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064" y="5733288"/>
            <a:ext cx="11082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17780"/>
                </a:solidFill>
                <a:latin typeface="Arial"/>
              </a:rPr>
              <a:t>Data → value: campaigns shape entry; customer/product rows shape local tests; agent records shape mock routing; transcripts guide tone.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17780"/>
                </a:solidFill>
                <a:latin typeface="Arial"/>
              </a:rPr>
              <a:t>Public fixtures, offers, policy, and actions are team-created. Historical clicks show engagement, not card sales.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03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02  /  WORKING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See a live card question answered in Spanish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Captured from the deployed judge app on 3 October 2026 · Rewards campaign · México · fictional fixture P02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47088"/>
            <a:ext cx="8778240" cy="43159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nish_conversa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929384"/>
            <a:ext cx="8613648" cy="415137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491472" y="1847088"/>
            <a:ext cx="2194560" cy="43159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9216" y="2084831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Customer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value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9216" y="2852928"/>
            <a:ext cx="1719071" cy="9144"/>
          </a:xfrm>
          <a:prstGeom prst="rect">
            <a:avLst/>
          </a:prstGeom>
          <a:solidFill>
            <a:srgbClr val="59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9216" y="3108960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Selected card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stays in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858768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Follow-up gets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an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9216" y="4608576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Source IDs make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claims traceable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9216" y="5650992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C6D8D5"/>
                </a:solidFill>
                <a:latin typeface="Arial"/>
              </a:rPr>
              <a:t>Live fictional-fixture chat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04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03  /  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How Atlas turns a question into a safe next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Each part supports the journey: understand intent, ground facts, protect consent, and verify actions.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65960"/>
            <a:ext cx="2139696" cy="1115568"/>
          </a:xfrm>
          <a:prstGeom prst="roundRect">
            <a:avLst>
              <a:gd name="adj" fmla="val 12000"/>
            </a:avLst>
          </a:prstGeom>
          <a:solidFill>
            <a:srgbClr val="E8F2F6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157984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Customer starts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487168"/>
            <a:ext cx="17739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Campaign / direct entry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Fictional demo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3512" y="1965960"/>
            <a:ext cx="2304288" cy="1115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392" y="2157984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Lambda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487168"/>
            <a:ext cx="19385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Keeps the active card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Checks access + limits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59552" y="1965960"/>
            <a:ext cx="2798064" cy="111556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157984"/>
            <a:ext cx="2432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Haiku intent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2432" y="248716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Fact / compare / apply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No private score 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08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77656" y="1965960"/>
            <a:ext cx="3008376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2157984"/>
            <a:ext cx="2633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Durable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487168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DynamoDB sessions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Mock actions + read-back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Useful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Sonnet + versioned public facts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Source IDs trace product claims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96512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8536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Controlled suggestion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Selected fixture → policy suggestion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Consent → synthetic precheck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No automatic approval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3538728"/>
            <a:ext cx="4005072" cy="1472184"/>
          </a:xfrm>
          <a:prstGeom prst="roundRect">
            <a:avLst>
              <a:gd name="adj" fmla="val 12000"/>
            </a:avLst>
          </a:prstGeom>
          <a:solidFill>
            <a:srgbClr val="FFF3E8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72984" y="3749039"/>
            <a:ext cx="36210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Verified next 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72984" y="4096512"/>
            <a:ext cx="362102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Separate confirmation → write → read back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Mock application: PENDING_REVIEW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Full-thread handoff; bot pauses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" y="5376672"/>
            <a:ext cx="11173968" cy="722376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550408"/>
            <a:ext cx="107167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Trust: private score stays in the service  ·  card-specific consent gates precheck  ·  read-back gates success claims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05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04  /  MEASURED BEHAVIOR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A working journey, backed by measured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Current 4 October build · product and safety paths checked in production.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74519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5740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Product facts +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77439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Benefits and monthly fee came together with citations.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'This card' kept Horizon across turns. A comparison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against Summit returned lower-cost options.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74519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5740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Intent + consent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77439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 new application request reached card-specific consent.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An unnamed other card prompted a card choice.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Precheck decline led to a separate application choice.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675887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858768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Profile + service boundaries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4178807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Student suggestion named the selected demo profile and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its unverified enrollment. Cancellation got a support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path; a second application got the one-per-chat rule.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675887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858768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Checks behind the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4178807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Current build: 87 local tests; 7/8* live smoke flows.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Earlier rehearsal: 12 entry paths, 3 application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read-backs, 24 HTTP requests from six visitors.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5513832"/>
            <a:ext cx="11173968" cy="74066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605272"/>
            <a:ext cx="10744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12B38"/>
                </a:solidFill>
                <a:latin typeface="Arial"/>
              </a:rPr>
              <a:t>* After Rewards and Summit, 'a cheaper one' (PT: 'um mais barato') did not trigger a question about the reference card.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815584"/>
            <a:ext cx="10744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112B38"/>
                </a:solidFill>
                <a:latin typeface="Arial"/>
              </a:rPr>
              <a:t>It listed alternatives; a separate 'cheaper than Rewards' answer even included the more expensive Summit.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6053328"/>
            <a:ext cx="10744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76F70"/>
                </a:solidFill>
                <a:latin typeface="Arial"/>
              </a:rPr>
              <a:t>Separate, noncumulative checks  ·  400 model attempts/day cap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06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05  /  PATH TO A REAL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From judge demo to a bank-ready advisor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The same journey can serve real customers when its facts, identity, and human support are bank-operated.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65376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48256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Accurate live offers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68296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Governed card terms and credit policy replace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team-created demo offers and thresholds.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65376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48256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Trusted customer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68296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Verified identity, permission, and current account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data make personalized suggestions usable.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383280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56616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A human who can finish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3886200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Live agent queue, full conversation handoff,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reply in the same chat, and service levels.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383280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56616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Quality customers can rely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3886200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Independent bilingual evaluation, security,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capacity and cost budgets, and monitoring.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4983480"/>
            <a:ext cx="11173968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30368"/>
            <a:ext cx="106253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Today: a public demo. Next: approved bank systems and live reviewers.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660136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2"/>
              </a:rPr>
              <a:t>Open the live demo  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5660136"/>
            <a:ext cx="5230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3"/>
              </a:rPr>
              <a:t>Open the public repository 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